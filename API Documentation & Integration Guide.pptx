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2" y="619123"/>
            <a:ext cx="45529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5351" y="2710457"/>
            <a:ext cx="10381297" cy="690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sz="4350" b="1" i="0" u="none" dirty="0">
                <a:solidFill>
                  <a:srgbClr val="F8FAFC"/>
                </a:solidFill>
                <a:latin typeface="Poppins"/>
              </a:rPr>
              <a:t>Enterprise API Technical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53420"/>
            <a:ext cx="8096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An end-to-end operational guide for engineers, system architects, and technical integration teams. Covering authentication, data schemas, error handling, rate limits, and webhooks.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450" y="2310407"/>
            <a:ext cx="114300" cy="1285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4338042"/>
            <a:ext cx="2495550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725" y="4338042"/>
            <a:ext cx="201930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75" y="4338042"/>
            <a:ext cx="182880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2750" y="4423767"/>
            <a:ext cx="114300" cy="12858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650" y="4423767"/>
            <a:ext cx="95250" cy="12858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4300" y="4423767"/>
            <a:ext cx="133350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30040"/>
            <a:ext cx="5476875" cy="29694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230040"/>
            <a:ext cx="5476875" cy="29694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408759"/>
            <a:ext cx="5000625" cy="1519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System Architecture &amp;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125" y="2468165"/>
            <a:ext cx="4960620" cy="226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1" i="0" u="none">
                <a:solidFill>
                  <a:srgbClr val="38BDF8"/>
                </a:solidFill>
                <a:latin typeface="Poppins"/>
              </a:rPr>
              <a:t>API Environments &amp; Base URLs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789634"/>
            <a:ext cx="5000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The API provides isolated environments with dedicated gateways for development, staging, and high-availability production usage.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2468165"/>
            <a:ext cx="4940617" cy="226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1" i="0" u="none">
                <a:solidFill>
                  <a:srgbClr val="38BDF8"/>
                </a:solidFill>
                <a:latin typeface="Poppins"/>
              </a:rPr>
              <a:t>Core Architectural Pillars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490787"/>
            <a:ext cx="180975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75" y="3580209"/>
            <a:ext cx="1676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1" u="none">
                <a:solidFill>
                  <a:srgbClr val="64748B"/>
                </a:solidFill>
                <a:latin typeface="Fira Code"/>
              </a:rPr>
              <a:t>// Sandbox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77949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Base URL: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4377332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1" u="none">
                <a:solidFill>
                  <a:srgbClr val="64748B"/>
                </a:solidFill>
                <a:latin typeface="Fira Code"/>
              </a:rPr>
              <a:t>// Production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576613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Base URL: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490787"/>
            <a:ext cx="20002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4175" y="2789634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RESTful Resource Model: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Predictable URL routing with standard HTTP verb mappings (`GET`, `POST`, `PUT`, `DELETE`).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3332559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Strict UTF-8 JSON: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Requests and response bodies require `Content-Type: application/json`.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875484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Stateless Execution: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Every request carries its own authentication token; no server-side sessions.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418409"/>
            <a:ext cx="4733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Idempotency Support: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Safe re-execution on `PUT`, `DELETE`, and header-backed `POST` requests.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818209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361134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904059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444698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16509"/>
            <a:ext cx="3613100" cy="2796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2316509"/>
            <a:ext cx="3613100" cy="2796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316509"/>
            <a:ext cx="3613100" cy="2796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4488209"/>
            <a:ext cx="3136850" cy="3866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100" y="4488209"/>
            <a:ext cx="3136850" cy="3866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Protocol &amp; Technical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900" y="3011834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API Versioning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321397"/>
            <a:ext cx="31368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Versioned directly within the URL path string (e.g., `/v1/resources`). Breaking schema changes introduce a major version bump (`/v2/`), while backward-compatible additions remain in current builds.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011834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Idempotent Key 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500" y="3321397"/>
            <a:ext cx="31368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For POST transactions where network timeouts occur, submit a unique UUID in the header to guarantee requests execute at most once without duplicate charges or record creation.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011834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Content Negotiation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321397"/>
            <a:ext cx="31368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Clients specify supported format and encoding preferences via HTTP headers. Uncompressed and Gzip/Brotli compressed responses are natively handled for high throughput.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583209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2583209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5750" y="4602509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34D399"/>
                </a:solidFill>
                <a:latin typeface="Fira Code"/>
              </a:rPr>
              <a:t>7b9e1d82-4f3a...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2583209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69350" y="4602509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34D399"/>
                </a:solidFill>
                <a:latin typeface="Fira Code"/>
              </a:rPr>
              <a:t>gzip, deflate, 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522612"/>
            <a:ext cx="5476875" cy="722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Authentication &amp; Security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5775" y="2670125"/>
            <a:ext cx="5750718" cy="214312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38BDF8"/>
                </a:solidFill>
                <a:latin typeface="Poppins"/>
              </a:rPr>
              <a:t>OAuth 2.0 Bearer Token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2979687"/>
            <a:ext cx="5476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Authenticate requests by providing your JWT access token in the `Authorization` request header.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359324"/>
            <a:ext cx="5476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Tokens expire every 3600 seconds (1 hour). Use refresh tokens to maintain continuous daemon connections.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9350" y="2670125"/>
            <a:ext cx="5750718" cy="214312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38BDF8"/>
                </a:solidFill>
                <a:latin typeface="Poppins"/>
              </a:rPr>
              <a:t>Security Controls &amp; Token Hygiene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8917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50" y="3694062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1" u="none">
                <a:solidFill>
                  <a:srgbClr val="64748B"/>
                </a:solidFill>
                <a:latin typeface="Fira Code"/>
              </a:rPr>
              <a:t>// Authorization Header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893343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Authorization: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3150" y="3893343"/>
            <a:ext cx="2971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eyJhbGciOiJIUzI1NiIsInR5cCI6IkpXVCJ9...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68917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6050" y="2979687"/>
            <a:ext cx="52101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Role-Based Access Control (RBAC):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Tokens contain granular scopes (`read:users`, `write:orders`).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3522612"/>
            <a:ext cx="52101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Key Storage: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Never commit secrets into source control; inject via system secret vaults (e.g., AWS KMS, HashiCorp Vault).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4065537"/>
            <a:ext cx="52101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Automatic Revocation: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Compromised keys can be revoked instantly via the Management Console.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008262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551187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4094112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Core Endpoint Directory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5775" y="1857375"/>
            <a:ext cx="11220450" cy="37147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1857375"/>
          <a:ext cx="11210924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7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Verb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Endpoint Pathway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Description &amp;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Required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Rate Limit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/v1/health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System operational health check &amp; gateway 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10,000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/v1/auth/login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Exchange API credentials for short-lived JWT token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100 /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/v1/users/me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Retrieve active authenticated identity &amp; metadata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read:profile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1,000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Fetch paginated collection of resources with filters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read:resources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1,000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Instantiate and process a new resource entity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write:resources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500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/v1/resources/{id}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Complete attribute replacement update on target entity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write:resources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500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3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"/>
                        </a:rPr>
                        <a:t>/v1/resources/{id}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Soft-delete entity instance and terminate permissions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Inter"/>
                        </a:rPr>
                        <a:t>admin:resources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200 / hr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0537" y="2290762"/>
            <a:ext cx="95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43037" y="2290762"/>
            <a:ext cx="24352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78312" y="2290762"/>
            <a:ext cx="52177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6077" y="2290762"/>
            <a:ext cx="14623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558462" y="2290762"/>
            <a:ext cx="1143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0537" y="2757487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43037" y="2757487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78312" y="2757487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96077" y="2757487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558462" y="2757487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0537" y="3224212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43037" y="3224212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8312" y="3224212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6077" y="3224212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558462" y="3224212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0537" y="3690937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43037" y="3690937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78312" y="3690937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6077" y="3690937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558462" y="3690937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537" y="4157662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443037" y="4157662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78312" y="4157662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6077" y="4157662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58462" y="4157662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0537" y="4624387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43037" y="4624387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78312" y="4624387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6077" y="4624387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58462" y="4624387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0537" y="5091112"/>
            <a:ext cx="952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43037" y="5091112"/>
            <a:ext cx="24352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878312" y="5091112"/>
            <a:ext cx="521776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96077" y="5091112"/>
            <a:ext cx="14623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558462" y="5091112"/>
            <a:ext cx="1143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409825"/>
            <a:ext cx="571500" cy="247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876550"/>
            <a:ext cx="571500" cy="2476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343275"/>
            <a:ext cx="571500" cy="2476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810000"/>
            <a:ext cx="571500" cy="2476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276725"/>
            <a:ext cx="571500" cy="2476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4743450"/>
            <a:ext cx="571500" cy="2476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5210175"/>
            <a:ext cx="5715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54647"/>
            <a:ext cx="5476875" cy="2120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654647"/>
            <a:ext cx="5476875" cy="21202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814316"/>
            <a:ext cx="5000625" cy="523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3814316"/>
            <a:ext cx="5000625" cy="722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Query Parameters, Filtering &amp;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0125" y="2892772"/>
            <a:ext cx="4960620" cy="226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1" i="0" u="none">
                <a:solidFill>
                  <a:srgbClr val="38BDF8"/>
                </a:solidFill>
                <a:latin typeface="Poppins"/>
              </a:rPr>
              <a:t>Cursor-Based Pagination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214241"/>
            <a:ext cx="5000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For high-performance dataset traversal, query endpoints utilize opaque cursor tokens rather than offset offsets to eliminate duplicate reads.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2892772"/>
            <a:ext cx="4960620" cy="226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1" i="0" u="none">
                <a:solidFill>
                  <a:srgbClr val="38BDF8"/>
                </a:solidFill>
                <a:latin typeface="Poppins"/>
              </a:rPr>
              <a:t>Filtering &amp; Sorting Syntax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214241"/>
            <a:ext cx="5000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Filter parameters accept field operator parameters with standard sort keys (`asc` or `desc`) to refine payload results.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915394"/>
            <a:ext cx="1809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76475" y="3985766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3675" y="3985766"/>
            <a:ext cx="152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275" y="3985766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starting_after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275" y="3985766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res_88321a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915394"/>
            <a:ext cx="18097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0050" y="3985766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3450" y="3985766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6850" y="3985766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created_gt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5050" y="3985766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1726350000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0" y="3985766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sort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450" y="3985766"/>
            <a:ext cx="4572000" cy="361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-created_at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89770"/>
            <a:ext cx="5476875" cy="2316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Request Payload Schema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5775" y="2423070"/>
            <a:ext cx="5750718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u="none">
                <a:solidFill>
                  <a:srgbClr val="38BDF8"/>
                </a:solidFill>
                <a:latin typeface="Poppins"/>
              </a:rPr>
              <a:t>Request Body (POST /v1/resources)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9350" y="2423070"/>
            <a:ext cx="5750718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u="none">
                <a:solidFill>
                  <a:srgbClr val="818CF8"/>
                </a:solidFill>
                <a:latin typeface="Poppins"/>
              </a:rPr>
              <a:t>Field Constraint Matrix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32595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060501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"name"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3060501"/>
            <a:ext cx="2057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"Project Alpha Integration"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59782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"category"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3550" y="3259782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"data_sync"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459063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"priority"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50" y="3459063"/>
            <a:ext cx="76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58344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"settings"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857625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"auto_retry"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8350" y="3857625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43F5E"/>
                </a:solidFill>
                <a:latin typeface="Fira Code"/>
              </a:rPr>
              <a:t>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4056905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"max_attempts"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056905"/>
            <a:ext cx="76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455467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"tags"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455467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"production"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750" y="4455467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"v1-launch"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432595"/>
            <a:ext cx="152400" cy="1524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29350" y="2689770"/>
            <a:ext cx="5476875" cy="20955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29350" y="2689770"/>
          <a:ext cx="5467349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Field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String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Required. 3-100 chars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Enum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Required. Enum options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Optional. Range [1..5]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Inter"/>
                        </a:rPr>
                        <a:t>settings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Nested properties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234112" y="3123158"/>
            <a:ext cx="16179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52023" y="3123158"/>
            <a:ext cx="11377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89814" y="3123158"/>
            <a:ext cx="2711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4112" y="3535114"/>
            <a:ext cx="16179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52023" y="3535114"/>
            <a:ext cx="11377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89814" y="3535114"/>
            <a:ext cx="27116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4112" y="3947070"/>
            <a:ext cx="16179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52023" y="3947070"/>
            <a:ext cx="11377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89814" y="3947070"/>
            <a:ext cx="27116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4112" y="4359026"/>
            <a:ext cx="16179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852023" y="4359026"/>
            <a:ext cx="11377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89814" y="4359026"/>
            <a:ext cx="27116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90489"/>
            <a:ext cx="5476875" cy="2715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490489"/>
            <a:ext cx="5476875" cy="2515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Standard Response Envelope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5775" y="2223789"/>
            <a:ext cx="5750718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Successful Envelope Structure (200 / 201)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9350" y="2223789"/>
            <a:ext cx="5750718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u="none">
                <a:solidFill>
                  <a:srgbClr val="F43F5E"/>
                </a:solidFill>
                <a:latin typeface="Poppins"/>
              </a:rPr>
              <a:t>Error Envelope Structure (4xx / 5xx)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233314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286122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"success"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7350" y="286122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43F5E"/>
                </a:solidFill>
                <a:latin typeface="Fira Code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060501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"data"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259782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"id"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259782"/>
            <a:ext cx="990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"res_998231a"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459063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"name"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150" y="3459063"/>
            <a:ext cx="2057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"Project Alpha Integration"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3658344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"status"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3550" y="3658344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"active"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857625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"created_at"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8350" y="3857625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1726410000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256186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"meta"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4455467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"request_id"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8350" y="4455467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"req_01HJ892K"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233314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62725" y="286122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"success"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0925" y="286122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F43F5E"/>
                </a:solidFill>
                <a:latin typeface="Fira Code"/>
              </a:rPr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725" y="3060501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"error"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5125" y="3259782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"code"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725" y="3259782"/>
            <a:ext cx="1447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"VALIDATION_FAILED"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5125" y="3459063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"message"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3325" y="3459063"/>
            <a:ext cx="2667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"Invalid priority parameter value."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5125" y="3658344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"target"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7125" y="3658344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"priority"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725" y="4056905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"meta"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5125" y="4256186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"request_id"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1925" y="4256186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4D399"/>
                </a:solidFill>
                <a:latin typeface="Fira Code"/>
              </a:rPr>
              <a:t>"req_01HJ899Z"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Error Handling &amp; HTTP Status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5775" y="1772840"/>
            <a:ext cx="11220450" cy="3883818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1772840"/>
          <a:ext cx="11210925" cy="3883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HTTP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Status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Condition &amp; Root Cause Trigger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Resolution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4D399"/>
                          </a:solidFill>
                          <a:latin typeface="Inter"/>
                        </a:rPr>
                        <a:t>200 / 201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OK /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Request completed successfully. Entity fetched or generated.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Process payload response object.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BBF24"/>
                          </a:solidFill>
                          <a:latin typeface="Inter"/>
                        </a:rPr>
                        <a:t>400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Bad Request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Malformed JSON syntax or invalid field validation constraint failure.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Inspect error details key and fix parameters.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43F5E"/>
                          </a:solidFill>
                          <a:latin typeface="Inter"/>
                        </a:rPr>
                        <a:t>401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Unauthorized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Missing, expired, or invalid OAuth access token in HTTP header.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Refresh access token via `/v1/auth/login`.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43F5E"/>
                          </a:solidFill>
                          <a:latin typeface="Inter"/>
                        </a:rPr>
                        <a:t>403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Forbidden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Authenticated user token lacks the necessary RBAC permission scope.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Request scope escalation from developer team.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43F5E"/>
                          </a:solidFill>
                          <a:latin typeface="Inter"/>
                        </a:rPr>
                        <a:t>404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Not Found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Specified resource ID or URI pathway does not exist in database.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Verify entity resource UUID parameter.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832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FBBF24"/>
                          </a:solidFill>
                          <a:latin typeface="Inter"/>
                        </a:rPr>
                        <a:t>429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Too Many Requests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Client surpassed rate limit thresholds within current window.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Pause execution until reset window opens.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0537" y="2206228"/>
            <a:ext cx="1047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38287" y="2206228"/>
            <a:ext cx="2000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38537" y="2206228"/>
            <a:ext cx="56864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24962" y="2206228"/>
            <a:ext cx="2476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0537" y="2618184"/>
            <a:ext cx="1047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38287" y="2618184"/>
            <a:ext cx="2000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537" y="2618184"/>
            <a:ext cx="5686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24962" y="2618184"/>
            <a:ext cx="2476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0537" y="3223021"/>
            <a:ext cx="1047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38287" y="3223021"/>
            <a:ext cx="2000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38537" y="3223021"/>
            <a:ext cx="5686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24962" y="3223021"/>
            <a:ext cx="2476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0537" y="3827859"/>
            <a:ext cx="1047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38287" y="3827859"/>
            <a:ext cx="2000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38537" y="3827859"/>
            <a:ext cx="5686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24962" y="3827859"/>
            <a:ext cx="2476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0537" y="4432696"/>
            <a:ext cx="1047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538287" y="4432696"/>
            <a:ext cx="2000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38537" y="4432696"/>
            <a:ext cx="5686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24962" y="4432696"/>
            <a:ext cx="2476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537" y="5037534"/>
            <a:ext cx="1047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538287" y="5037534"/>
            <a:ext cx="20002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38537" y="5037534"/>
            <a:ext cx="56864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24962" y="5037534"/>
            <a:ext cx="2476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423171"/>
            <a:ext cx="11220450" cy="523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83048"/>
            <a:ext cx="3613100" cy="17496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2483048"/>
            <a:ext cx="3613100" cy="17496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483048"/>
            <a:ext cx="3613249" cy="17496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721173"/>
            <a:ext cx="3136850" cy="5447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2721173"/>
            <a:ext cx="3136850" cy="5447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100" y="2721173"/>
            <a:ext cx="3136999" cy="5447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Rate Limiting &amp; Traffic Throttling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9300" y="4594621"/>
            <a:ext cx="1676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sz="1012" b="0" i="0" u="none">
                <a:solidFill>
                  <a:srgbClr val="818CF8"/>
                </a:solidFill>
                <a:latin typeface="Fira Code"/>
              </a:rPr>
              <a:t>HTTP Response Headers: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4594621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700" y="4594621"/>
            <a:ext cx="228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0700" y="4594621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9"/>
              </a:lnSpc>
            </a:pPr>
            <a:r>
              <a:rPr sz="1012" b="0" i="0" u="none">
                <a:solidFill>
                  <a:srgbClr val="FBBF24"/>
                </a:solidFill>
                <a:latin typeface="Fira Code"/>
              </a:rPr>
              <a:t>1726413600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342084"/>
            <a:ext cx="3136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Requests / Hr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608784"/>
            <a:ext cx="31368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Default rate allowance with burst capability up to 30 req/sec.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7500" y="3342084"/>
            <a:ext cx="3136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Requests / Hr (Enterprise)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7500" y="3608784"/>
            <a:ext cx="31368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High-frequency dedicated throughput with zero burst throttling.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100" y="3342084"/>
            <a:ext cx="31369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P99 Target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1100" y="3608784"/>
            <a:ext cx="3136999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Global edge deployment delivering ultra-low response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46436"/>
            <a:ext cx="3613100" cy="25366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2446436"/>
            <a:ext cx="3613100" cy="25366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446436"/>
            <a:ext cx="3613100" cy="25366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4403824"/>
            <a:ext cx="3136850" cy="3411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Webhooks &amp; Asynchronous Event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3141761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Real-time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451324"/>
            <a:ext cx="31368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Subscribe to backend system events (`resource.created`, `order.fulfilled`). Webhooks deliver instant HTTP POST updates directly to your registered destination URL.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00" y="3141761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HMAC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451324"/>
            <a:ext cx="3136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Prevent payload tampering by computing SHA-256 HMAC signatures using your shared secret and matching against the `X-Signature` request header.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3141761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Exponential 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451324"/>
            <a:ext cx="3136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If your webhook receiver endpoint fails to respond with a `2xx` HTTP code, automated retry logic executes across 24 hours with exponential backoff.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713136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500" y="2713136"/>
            <a:ext cx="33337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0000" y="4499074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862" b="0" i="0" u="none">
                <a:solidFill>
                  <a:srgbClr val="34D399"/>
                </a:solidFill>
                <a:latin typeface="Fira Code"/>
              </a:rPr>
              <a:t>t=172641,v1=9f82a...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100" y="2713136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942034"/>
            <a:ext cx="5476875" cy="180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942034"/>
            <a:ext cx="5476875" cy="1246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SDK Integration &amp; Code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5775" y="2687240"/>
            <a:ext cx="5750718" cy="178593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125" b="1" i="0" u="none">
                <a:solidFill>
                  <a:srgbClr val="38BDF8"/>
                </a:solidFill>
                <a:latin typeface="Poppins"/>
              </a:rPr>
              <a:t> Python SDK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9350" y="2687240"/>
            <a:ext cx="5750718" cy="178593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1125" b="1" i="0" u="none">
                <a:solidFill>
                  <a:srgbClr val="34D399"/>
                </a:solidFill>
                <a:latin typeface="Poppins"/>
              </a:rPr>
              <a:t> Node.js / TypeScript Integration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696765"/>
            <a:ext cx="12382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50" y="3113484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5950" y="3113484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150" y="3482578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"sk_live_99831a"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851671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"Project Alpha"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7350" y="4036218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"data_sync"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405312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print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696765"/>
            <a:ext cx="12382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0325" y="3113484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525" y="3113484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113484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'@company/sdk'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482578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725" y="3482578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525" y="3482578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'sk_live_99831a'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3667125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const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5725" y="3667125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F43F5E"/>
                </a:solidFill>
                <a:latin typeface="Fira Code"/>
              </a:rPr>
              <a:t>await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4525" y="3667125"/>
            <a:ext cx="990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34D399"/>
                </a:solidFill>
                <a:latin typeface="Fira Code"/>
              </a:rPr>
              <a:t>'res_998231a'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64618"/>
            <a:ext cx="3613100" cy="2100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75" y="2664618"/>
            <a:ext cx="3613100" cy="2100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664618"/>
            <a:ext cx="3613100" cy="21002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390525"/>
            <a:ext cx="117062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F8FAFC"/>
                </a:solidFill>
                <a:latin typeface="Poppins"/>
              </a:rPr>
              <a:t>Security Standards &amp;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775" y="771525"/>
            <a:ext cx="5715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3359943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Data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669506"/>
            <a:ext cx="3136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All data in transit is encrypted using 256-bit TLS 1.3 encryption. Data at rest is encrypted via AES-256 with key management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00" y="3359943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Compliance &amp; Auditing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00" y="3669506"/>
            <a:ext cx="3136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SOC2 Type II certified infrastructure. Complete immutable system audit logs track every API call for security, debugging, and compliance audits.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100" y="3359943"/>
            <a:ext cx="329369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1" i="0" u="none">
                <a:solidFill>
                  <a:srgbClr val="F8FAFC"/>
                </a:solidFill>
                <a:latin typeface="Poppins"/>
              </a:rPr>
              <a:t>IP Whitelisting &amp;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3669506"/>
            <a:ext cx="3136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Restrict production API key usage to explicitly configured CIDR IP ranges and restrict web browser domains via strict CORS origin policies.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931318"/>
            <a:ext cx="23812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500" y="2931318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100" y="2931318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337" y="1956792"/>
            <a:ext cx="374332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3903464"/>
            <a:ext cx="5419725" cy="52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552" y="2442567"/>
            <a:ext cx="716089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Developer Portal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195042"/>
            <a:ext cx="8096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Access live API request testing, complete OpenAPI 3.0 specifications, Postman collection downloads, and technical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5150" y="4694039"/>
            <a:ext cx="59817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087" b="0" i="0" u="none">
                <a:solidFill>
                  <a:srgbClr val="64748B"/>
                </a:solidFill>
                <a:latin typeface="Inter"/>
              </a:rPr>
              <a:t>Need help? Contact Developer Relations &amp; Engineering Support at </a:t>
            </a:r>
            <a:r>
              <a:rPr sz="1087" b="1" i="0" u="none">
                <a:solidFill>
                  <a:srgbClr val="64748B"/>
                </a:solidFill>
                <a:latin typeface="Inter"/>
              </a:rPr>
              <a:t>support@company.com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62" y="2042517"/>
            <a:ext cx="142875" cy="1285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362" y="4074914"/>
            <a:ext cx="180975" cy="180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1264</Words>
  <Application>Microsoft Office PowerPoint</Application>
  <PresentationFormat>Widescreen</PresentationFormat>
  <Paragraphs>227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Fira Code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Jaswanth</dc:creator>
  <cp:keywords/>
  <dc:description>generated using python-pptx</dc:description>
  <cp:lastModifiedBy>Jaswanth Mendu</cp:lastModifiedBy>
  <cp:revision>2</cp:revision>
  <dcterms:created xsi:type="dcterms:W3CDTF">2013-01-27T09:14:16Z</dcterms:created>
  <dcterms:modified xsi:type="dcterms:W3CDTF">2026-09-15T08:14:23Z</dcterms:modified>
  <cp:category/>
</cp:coreProperties>
</file>